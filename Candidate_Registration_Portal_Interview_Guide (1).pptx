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0256"/>
            <a:ext cx="12191695" cy="237744"/>
          </a:xfrm>
          <a:prstGeom prst="rect">
            <a:avLst/>
          </a:prstGeom>
          <a:solidFill>
            <a:srgbClr val="EAF0F7"/>
          </a:solidFill>
          <a:ln w="12700">
            <a:solidFill>
              <a:srgbClr val="EAF0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64768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Registration Portal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9738360" y="66476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D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Presentation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1695" cy="6455664"/>
          </a:xfrm>
          <a:prstGeom prst="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64592"/>
            <a:ext cx="201168" cy="6455664"/>
          </a:xfrm>
          <a:prstGeom prst="rect">
            <a:avLst/>
          </a:prstGeom>
          <a:solidFill>
            <a:srgbClr val="4A7FC5"/>
          </a:solidFill>
          <a:ln w="12700">
            <a:solidFill>
              <a:srgbClr val="4A7F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91440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70" kern="0" dirty="0">
                <a:solidFill>
                  <a:srgbClr val="BFD2E7"/>
                </a:solidFill>
              </a:rPr>
              <a:t>CANDIDATE REGISTRATION PORTAL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Project Workflow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&amp; Interview Guide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3246120"/>
            <a:ext cx="8869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8F5"/>
                </a:solidFill>
              </a:rPr>
              <a:t>ASP.NET Core MVC • C# • Entity Framework Core • SQL Server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9808" y="3977640"/>
            <a:ext cx="1508760" cy="301752"/>
          </a:xfrm>
          <a:prstGeom prst="roundRect">
            <a:avLst>
              <a:gd name="adj" fmla="val 24242"/>
            </a:avLst>
          </a:prstGeom>
          <a:solidFill>
            <a:srgbClr val="2A4E79"/>
          </a:solidFill>
          <a:ln w="12700">
            <a:solidFill>
              <a:srgbClr val="2A4E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032504"/>
            <a:ext cx="13624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Registration</a:t>
            </a:r>
            <a:endParaRPr lang="en-US" sz="930" dirty="0"/>
          </a:p>
        </p:txBody>
      </p:sp>
      <p:sp>
        <p:nvSpPr>
          <p:cNvPr id="9" name="Shape 7"/>
          <p:cNvSpPr/>
          <p:nvPr/>
        </p:nvSpPr>
        <p:spPr>
          <a:xfrm>
            <a:off x="2395728" y="3977640"/>
            <a:ext cx="1143000" cy="301752"/>
          </a:xfrm>
          <a:prstGeom prst="roundRect">
            <a:avLst>
              <a:gd name="adj" fmla="val 24242"/>
            </a:avLst>
          </a:prstGeom>
          <a:solidFill>
            <a:srgbClr val="2A4E79"/>
          </a:solidFill>
          <a:ln w="12700">
            <a:solidFill>
              <a:srgbClr val="2A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4032504"/>
            <a:ext cx="9966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Login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675888" y="3977640"/>
            <a:ext cx="1417320" cy="301752"/>
          </a:xfrm>
          <a:prstGeom prst="roundRect">
            <a:avLst>
              <a:gd name="adj" fmla="val 24242"/>
            </a:avLst>
          </a:prstGeom>
          <a:solidFill>
            <a:srgbClr val="2A4E79"/>
          </a:solidFill>
          <a:ln w="12700">
            <a:solidFill>
              <a:srgbClr val="2A4E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4032504"/>
            <a:ext cx="12710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Application</a:t>
            </a:r>
            <a:endParaRPr lang="en-US" sz="930" dirty="0"/>
          </a:p>
        </p:txBody>
      </p:sp>
      <p:sp>
        <p:nvSpPr>
          <p:cNvPr id="13" name="Shape 11"/>
          <p:cNvSpPr/>
          <p:nvPr/>
        </p:nvSpPr>
        <p:spPr>
          <a:xfrm>
            <a:off x="5230368" y="3977640"/>
            <a:ext cx="1051560" cy="301752"/>
          </a:xfrm>
          <a:prstGeom prst="roundRect">
            <a:avLst>
              <a:gd name="adj" fmla="val 24242"/>
            </a:avLst>
          </a:prstGeom>
          <a:solidFill>
            <a:srgbClr val="2A4E79"/>
          </a:solidFill>
          <a:ln w="12700">
            <a:solidFill>
              <a:srgbClr val="2A4E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0" y="4032504"/>
            <a:ext cx="90525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Admin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419088" y="3977640"/>
            <a:ext cx="1371600" cy="301752"/>
          </a:xfrm>
          <a:prstGeom prst="roundRect">
            <a:avLst>
              <a:gd name="adj" fmla="val 24242"/>
            </a:avLst>
          </a:prstGeom>
          <a:solidFill>
            <a:srgbClr val="2A4E79"/>
          </a:solidFill>
          <a:ln w="12700">
            <a:solidFill>
              <a:srgbClr val="2A4E7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032504"/>
            <a:ext cx="1225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FFFFFF"/>
                </a:solidFill>
              </a:rPr>
              <a:t>Audit + PDF</a:t>
            </a:r>
            <a:endParaRPr lang="en-US" sz="930" dirty="0"/>
          </a:p>
        </p:txBody>
      </p:sp>
      <p:sp>
        <p:nvSpPr>
          <p:cNvPr id="17" name="Text 15"/>
          <p:cNvSpPr/>
          <p:nvPr/>
        </p:nvSpPr>
        <p:spPr>
          <a:xfrm>
            <a:off x="749808" y="47548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7E6"/>
                </a:solidFill>
              </a:rPr>
              <a:t>Interview-ready explanation, visual workflow, technical definitions and 50 Q&amp;A points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58064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B5CA"/>
                </a:solidFill>
              </a:rPr>
              <a:t>Use this as a walkthrough during a project discussion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What the application does and what problem it solves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OVERVIEW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3232" y="155448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Purpose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1938528"/>
            <a:ext cx="3236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A secure candidate portal that captures registration details, authenticates users, collects an application with supporting documents, and provides an admin area for review and audit.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15968" y="1417320"/>
            <a:ext cx="35661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80560" y="1554480"/>
            <a:ext cx="3236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Primary Users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80560" y="1938528"/>
            <a:ext cx="32369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Candidate: register, log in, complete application, upload documents, view/generate hall ticket.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Admin: view applications, documents and login audit records.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83296" y="1417320"/>
            <a:ext cx="3547872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47888" y="1554480"/>
            <a:ext cx="32186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Core Outcome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47888" y="1938528"/>
            <a:ext cx="3218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Validated, traceable and database-backed candidate applications with secure handling of authentication data and uploaded PDFs.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EEF4FB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3232" y="3794760"/>
            <a:ext cx="10735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How to explain it in one line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4178808"/>
            <a:ext cx="107350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“It is an ASP.NET Core MVC candidate application portal with SQL Server persistence, session-based authentication, document upload, audit logging and an admin dashboard.”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Functional Scope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Map the requirement to application modules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REQUIREMENTS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554480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Registration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38528"/>
            <a:ext cx="4928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B4D"/>
                </a:solidFill>
              </a:rPr>
              <a:t>Username, name, mobile, DOB, CAPTCHA, mandatory validation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217920" y="141732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82512" y="1554480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Login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82512" y="1938528"/>
            <a:ext cx="4928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B4D"/>
                </a:solidFill>
              </a:rPr>
              <a:t>Password, offline 6-digit OTP, CAPTCHA, session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94360" y="283464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" y="2971800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Application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" y="3355848"/>
            <a:ext cx="4928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B4D"/>
                </a:solidFill>
              </a:rPr>
              <a:t>Gender, course, state, district, photo, signature, PDF</a:t>
            </a:r>
            <a:endParaRPr lang="en-US" sz="1030" dirty="0"/>
          </a:p>
        </p:txBody>
      </p:sp>
      <p:sp>
        <p:nvSpPr>
          <p:cNvPr id="15" name="Shape 13"/>
          <p:cNvSpPr/>
          <p:nvPr/>
        </p:nvSpPr>
        <p:spPr>
          <a:xfrm>
            <a:off x="6217920" y="283464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82512" y="2971800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Submission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82512" y="3355848"/>
            <a:ext cx="4928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B4D"/>
                </a:solidFill>
              </a:rPr>
              <a:t>Validation, database save, application grid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594360" y="42519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58952" y="4389120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Hall Ticket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8952" y="4773168"/>
            <a:ext cx="4928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B4D"/>
                </a:solidFill>
              </a:rPr>
              <a:t>Candidate details, photo, signature, print-ready layout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217920" y="4251960"/>
            <a:ext cx="52578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82512" y="4389120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Admin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82512" y="4773168"/>
            <a:ext cx="4928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72B4D"/>
                </a:solidFill>
              </a:rPr>
              <a:t>Applications, uploaded documents, login audit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What each technology is doing in the solution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TECH STACK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55448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ASP.NET Core MVC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1938528"/>
            <a:ext cx="3191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Web framework and request pipeline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155448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C#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53712" y="1938528"/>
            <a:ext cx="3191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Controllers, services, models and business logic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48472" y="155448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Entity Framework Core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48472" y="1938528"/>
            <a:ext cx="3191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ORM and database access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4360" y="32461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8952" y="338328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SQL Server / LocalDB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58952" y="3767328"/>
            <a:ext cx="3191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Persistent relational data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0" y="32461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53712" y="338328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Razor Views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53712" y="3767328"/>
            <a:ext cx="3191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Server-rendered UI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83880" y="3246120"/>
            <a:ext cx="35204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348472" y="3383280"/>
            <a:ext cx="3191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HTML/CSS/JS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348472" y="3767328"/>
            <a:ext cx="31912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Form behavior, validation and styling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High-Level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Separation of concerns from browser to database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ARCHITECTURE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658368" y="20574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2037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Browser / UI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68096" y="2596896"/>
            <a:ext cx="17007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Razor Views + HTML/CSS/JS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880360" y="20574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22037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Controllers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2990088" y="2596896"/>
            <a:ext cx="17007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HTTP endpoints + authorization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102352" y="20574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2037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Services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212080" y="2596896"/>
            <a:ext cx="17007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Validation + business logic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7324344" y="20574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34072" y="22037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EF Core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434072" y="2596896"/>
            <a:ext cx="17007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DbContext + entity mapping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9546336" y="20574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5240">
            <a:solidFill>
              <a:srgbClr val="2F7D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56064" y="2203704"/>
            <a:ext cx="17007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SQL Server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656064" y="2596896"/>
            <a:ext cx="170078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Tables + stored procedures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2578608" y="2633472"/>
            <a:ext cx="256032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00600" y="2633472"/>
            <a:ext cx="256032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22592" y="2633472"/>
            <a:ext cx="256032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244584" y="2633472"/>
            <a:ext cx="256032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0120" y="39776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124712" y="4114800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Cross-cutting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24712" y="4498848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Session • Data Protection • Logging • Exception handling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26280" y="39776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90872" y="4114800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Security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90872" y="4498848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Server-side validation • Role checks • Hashed passwords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92440" y="3977640"/>
            <a:ext cx="3108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57032" y="4114800"/>
            <a:ext cx="2779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Documents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57032" y="4498848"/>
            <a:ext cx="27797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Photo/signature validation • PDF in SQL Server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End-to-End Candidate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A simple story you can explain at the whiteboard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WORKFLOW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1572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29514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Register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66928" y="268833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Create candidate record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029968" y="2788920"/>
            <a:ext cx="32918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95728" y="2148840"/>
            <a:ext cx="1572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229514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Login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505456" y="268833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Password + OTP + CAPTCHA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968496" y="2788920"/>
            <a:ext cx="32918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4256" y="2148840"/>
            <a:ext cx="1572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229514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Application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443984" y="268833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Fill form + upload docs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907024" y="2788920"/>
            <a:ext cx="32918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72784" y="2148840"/>
            <a:ext cx="1572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29514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Validate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382512" y="268833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Client + server checks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845552" y="2788920"/>
            <a:ext cx="32918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11312" y="2148840"/>
            <a:ext cx="1572768" cy="1280160"/>
          </a:xfrm>
          <a:prstGeom prst="roundRect">
            <a:avLst>
              <a:gd name="adj" fmla="val 5714"/>
            </a:avLst>
          </a:prstGeom>
          <a:solidFill>
            <a:srgbClr val="EAF6F0"/>
          </a:solidFill>
          <a:ln w="15240">
            <a:solidFill>
              <a:srgbClr val="2F7D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21040" y="229514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Save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8321040" y="268833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SQL Server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9784080" y="2788920"/>
            <a:ext cx="32918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49840" y="2148840"/>
            <a:ext cx="1572768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59568" y="2295144"/>
            <a:ext cx="1353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Hall Ticket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0259568" y="2688336"/>
            <a:ext cx="13533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Generate / print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1051560" y="4251960"/>
            <a:ext cx="9966960" cy="1005840"/>
          </a:xfrm>
          <a:prstGeom prst="roundRect">
            <a:avLst>
              <a:gd name="adj" fmla="val 7273"/>
            </a:avLst>
          </a:prstGeom>
          <a:solidFill>
            <a:srgbClr val="EEF4FB"/>
          </a:solidFill>
          <a:ln w="12700">
            <a:solidFill>
              <a:srgbClr val="BFD2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71016" y="4434840"/>
            <a:ext cx="9528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163A63"/>
                </a:solidFill>
              </a:rPr>
              <a:t>“The system turns a validated candidate registration into a traceable application record, then gives admins controlled visibility.”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Registration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Registration is the first validation boundary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REGISTRATION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97510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User enters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566928" y="2368296"/>
            <a:ext cx="16093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Username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Name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Mobile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DOB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286000" y="2532888"/>
            <a:ext cx="384048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15768" y="182880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25496" y="197510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Validate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825496" y="2368296"/>
            <a:ext cx="16093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Required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Format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Age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CAPTCHA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4544568" y="2532888"/>
            <a:ext cx="384048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974336" y="182880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84064" y="197510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Protect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5084064" y="2368296"/>
            <a:ext cx="16093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Password hash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Mobile hash / protection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803136" y="2532888"/>
            <a:ext cx="384048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232904" y="182880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42632" y="197510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Persist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342632" y="2368296"/>
            <a:ext cx="16093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SQL Server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Candidate record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9061704" y="2532888"/>
            <a:ext cx="384048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491472" y="182880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1975104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Confirm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9601200" y="2368296"/>
            <a:ext cx="16093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Success alert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Ready for login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658368" y="388620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023360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Typical validations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4407408"/>
            <a:ext cx="5020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Name: letters and permitted characters.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Mobile: numeric and required length.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DOB: valid date + age rule.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All required fields: mandatory.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9632" y="3886200"/>
            <a:ext cx="52578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64224" y="4023360"/>
            <a:ext cx="4928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Interview phrase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64224" y="4407408"/>
            <a:ext cx="49286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“I validate on the client for UX, but I always repeat critical validation on the server because client-side checks can be bypassed.”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Login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Authentication + session + audit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LOGIN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347472" y="21488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9514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Credentials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57200" y="2688336"/>
            <a:ext cx="13807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Username + password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1947672" y="2807208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04288" y="21488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14016" y="229514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OTP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414016" y="2688336"/>
            <a:ext cx="13807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Generate 6 digits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904488" y="2807208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61104" y="21488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229514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CAPTCHA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370832" y="2688336"/>
            <a:ext cx="13807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Challenge + answer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861304" y="2807208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21488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29514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Verify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327648" y="2688336"/>
            <a:ext cx="13807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Password + OTP + CAPTCHA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818120" y="2807208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74736" y="21488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229514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Session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8284464" y="2688336"/>
            <a:ext cx="13807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Store user / role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9774936" y="2807208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31552" y="2148840"/>
            <a:ext cx="1600200" cy="1325880"/>
          </a:xfrm>
          <a:prstGeom prst="roundRect">
            <a:avLst>
              <a:gd name="adj" fmla="val 5517"/>
            </a:avLst>
          </a:prstGeom>
          <a:solidFill>
            <a:srgbClr val="EAF6F0"/>
          </a:solidFill>
          <a:ln w="15240">
            <a:solidFill>
              <a:srgbClr val="2F7D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29514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Audit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0241280" y="2688336"/>
            <a:ext cx="138074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Success / failure + time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914400" y="416052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78992" y="429768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Why session?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78992" y="4681728"/>
            <a:ext cx="4608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HTTP is stateless. Session lets the application remember the authenticated user across requests.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16052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28232" y="429768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Why audit?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28232" y="4681728"/>
            <a:ext cx="4608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It provides traceability: who logged in, when, and whether the attempt succeeded.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Application Submission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Candidate details are reused after login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APPLICATION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347472" y="20116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5798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Auto-populate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57200" y="2551176"/>
            <a:ext cx="1380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Name • Mobile • DOB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1947672" y="2743200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04288" y="20116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14016" y="215798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Select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414016" y="2551176"/>
            <a:ext cx="1380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Gender • Course • State • District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904488" y="2743200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61104" y="20116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215798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Upload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370832" y="2551176"/>
            <a:ext cx="1380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Photo • Signature • PDF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861304" y="2743200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20116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15798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Validate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327648" y="2551176"/>
            <a:ext cx="1380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Types • Sizes • Required fields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818120" y="2743200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74736" y="20116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215798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Submit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8284464" y="2551176"/>
            <a:ext cx="1380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Save application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9774936" y="2743200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31552" y="20116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15798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Display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0241280" y="2551176"/>
            <a:ext cx="1380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Grid + hall ticket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868680" y="41605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033272" y="4297680"/>
            <a:ext cx="4745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Dependent dropdowns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33272" y="4681728"/>
            <a:ext cx="4745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State is the parent. Districts are loaded using the selected StateId so invalid combinations are avoided.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36208" y="416052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0" y="4297680"/>
            <a:ext cx="4745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Document storage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00800" y="4681728"/>
            <a:ext cx="474573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In the latest design, PDFs can be stored as VARBINARY(MAX) in SQL Server, avoiding dependency on a local folder.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Admin Module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Controlled review and monitoring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ADMIN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347472" y="20116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5798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Admin Login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57200" y="2551176"/>
            <a:ext cx="1380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Role check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1947672" y="2743200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304288" y="20116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14016" y="215798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Dashboard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2414016" y="2551176"/>
            <a:ext cx="1380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Counts + navigation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3904488" y="2743200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61104" y="20116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70832" y="215798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Applications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4370832" y="2551176"/>
            <a:ext cx="1380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Grid + candidate data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5861304" y="2743200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217920" y="20116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215798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Documents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327648" y="2551176"/>
            <a:ext cx="1380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Open PDF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818120" y="2743200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74736" y="20116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84464" y="215798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Audit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8284464" y="2551176"/>
            <a:ext cx="1380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Login history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9774936" y="2743200"/>
            <a:ext cx="283464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31552" y="2011680"/>
            <a:ext cx="1600200" cy="1463040"/>
          </a:xfrm>
          <a:prstGeom prst="roundRect">
            <a:avLst>
              <a:gd name="adj" fmla="val 5000"/>
            </a:avLst>
          </a:prstGeom>
          <a:solidFill>
            <a:srgbClr val="FFF2E5"/>
          </a:solidFill>
          <a:ln w="15240">
            <a:solidFill>
              <a:srgbClr val="B06A1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0" y="2157984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Logout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10241280" y="2551176"/>
            <a:ext cx="13807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Session cleared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914400" y="4251960"/>
            <a:ext cx="10241280" cy="91440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BFD2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3856" y="4434840"/>
            <a:ext cx="9802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163A63"/>
                </a:solidFill>
              </a:rPr>
              <a:t>“Authorization is enforced on the server; simply knowing the admin URL is not enough to gain access.”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Database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Master data, transactional data and audit data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SQL SERVER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4754880" y="2103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EAF6F0"/>
          </a:solidFill>
          <a:ln w="15240">
            <a:solidFill>
              <a:srgbClr val="2F7D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64608" y="2249424"/>
            <a:ext cx="2386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CRP_CandidateApplications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4864608" y="2642616"/>
            <a:ext cx="23865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Application + document metadata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914400" y="1234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1380744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CRP_CandidateUsers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1024128" y="1773936"/>
            <a:ext cx="21122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Login identity + candidate details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9006840" y="123444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B06A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16568" y="1380744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CRP_CandidateLoginAudits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9116568" y="1773936"/>
            <a:ext cx="211226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Login/logout/status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685800" y="397764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" y="412394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CRP_CandidateCourses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95528" y="4517136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Course master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3154680" y="397764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412394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CRP_CandidateStates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3264408" y="4517136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State master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669280" y="397764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79008" y="412394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CRP_CandidateDistricts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5779008" y="4517136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District master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8229600" y="3977640"/>
            <a:ext cx="214884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240">
            <a:solidFill>
              <a:srgbClr val="2F7D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4123944"/>
            <a:ext cx="1929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Stored Procedures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8339328" y="4517136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Audit / reports / retrieval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3246120" y="1783080"/>
            <a:ext cx="1508760" cy="713232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006840" y="1783080"/>
            <a:ext cx="-1645920" cy="713232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834640" y="4480560"/>
            <a:ext cx="1920240" cy="-128016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0" y="4480560"/>
            <a:ext cx="182880" cy="-1170432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0" y="3977640"/>
            <a:ext cx="-274320" cy="-68580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85800" y="539496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50392" y="5532120"/>
            <a:ext cx="10277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Relationship idea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50392" y="5916168"/>
            <a:ext cx="10277856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Candidate → Application; State → District; Master data → validated selections.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Validation &amp; Security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Validation is layered, not a single check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SECURITY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94360" y="1417320"/>
            <a:ext cx="11018520" cy="896112"/>
          </a:xfrm>
          <a:prstGeom prst="roundRect">
            <a:avLst>
              <a:gd name="adj" fmla="val 8163"/>
            </a:avLst>
          </a:prstGeom>
          <a:solidFill>
            <a:srgbClr val="EEF4FB"/>
          </a:solidFill>
          <a:ln w="13970">
            <a:solidFill>
              <a:srgbClr val="2C6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727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61A8"/>
                </a:solidFill>
              </a:rPr>
              <a:t>UI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240280" y="1572768"/>
            <a:ext cx="8915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B4D"/>
                </a:solidFill>
              </a:rPr>
              <a:t>Required fields, friendly messages, basic format checks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594360" y="2578608"/>
            <a:ext cx="11018520" cy="896112"/>
          </a:xfrm>
          <a:prstGeom prst="roundRect">
            <a:avLst>
              <a:gd name="adj" fmla="val 8163"/>
            </a:avLst>
          </a:prstGeom>
          <a:solidFill>
            <a:srgbClr val="EAF6F0"/>
          </a:solidFill>
          <a:ln w="13970">
            <a:solidFill>
              <a:srgbClr val="2F7D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7340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7D5B"/>
                </a:solidFill>
              </a:rPr>
              <a:t>Server 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40280" y="2734056"/>
            <a:ext cx="8915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B4D"/>
                </a:solidFill>
              </a:rPr>
              <a:t>Re-validate input, check IDs, file type/size, session and role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94360" y="3739896"/>
            <a:ext cx="11018520" cy="896112"/>
          </a:xfrm>
          <a:prstGeom prst="roundRect">
            <a:avLst>
              <a:gd name="adj" fmla="val 8163"/>
            </a:avLst>
          </a:prstGeom>
          <a:solidFill>
            <a:srgbClr val="FFF2E5"/>
          </a:solidFill>
          <a:ln w="13970">
            <a:solidFill>
              <a:srgbClr val="B06A1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8953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6A1C"/>
                </a:solidFill>
              </a:rPr>
              <a:t>Data layer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40280" y="3895344"/>
            <a:ext cx="8915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B4D"/>
                </a:solidFill>
              </a:rPr>
              <a:t>PK/FK constraints, stored procedures, relational integrity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94360" y="4901184"/>
            <a:ext cx="11018520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13970">
            <a:solidFill>
              <a:srgbClr val="B23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50566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23A3A"/>
                </a:solidFill>
              </a:rPr>
              <a:t>Sensitive 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40280" y="5056632"/>
            <a:ext cx="89154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B4D"/>
                </a:solidFill>
              </a:rPr>
              <a:t>Password hashing, protected mobile handling, persisted Data Protection keys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File Upload &amp; PDF Handling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From multipart upload to SQL Server binary storage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DOCUMENTS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94360" y="214884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29514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Select file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04088" y="2688336"/>
            <a:ext cx="17465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Browser file picker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907792" y="214884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229514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Validate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3017520" y="2688336"/>
            <a:ext cx="17465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Extension + MIME + size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5221224" y="214884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30952" y="229514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Read bytes</a:t>
            </a:r>
            <a:endParaRPr lang="en-US" sz="1320" dirty="0"/>
          </a:p>
        </p:txBody>
      </p:sp>
      <p:sp>
        <p:nvSpPr>
          <p:cNvPr id="14" name="Text 12"/>
          <p:cNvSpPr/>
          <p:nvPr/>
        </p:nvSpPr>
        <p:spPr>
          <a:xfrm>
            <a:off x="5330952" y="2688336"/>
            <a:ext cx="17465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Stream → byte[]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7534656" y="2148840"/>
            <a:ext cx="1965960" cy="1234440"/>
          </a:xfrm>
          <a:prstGeom prst="roundRect">
            <a:avLst>
              <a:gd name="adj" fmla="val 5926"/>
            </a:avLst>
          </a:prstGeom>
          <a:solidFill>
            <a:srgbClr val="EAF6F0"/>
          </a:solidFill>
          <a:ln w="15240">
            <a:solidFill>
              <a:srgbClr val="2F7D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44384" y="2295144"/>
            <a:ext cx="1746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SQL Server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7644384" y="2688336"/>
            <a:ext cx="17465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VARBINARY(MAX)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9848088" y="2148840"/>
            <a:ext cx="17373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5240">
            <a:solidFill>
              <a:srgbClr val="2C61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57816" y="2295144"/>
            <a:ext cx="1517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63A63"/>
                </a:solidFill>
              </a:rPr>
              <a:t>Admin View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9957816" y="2688336"/>
            <a:ext cx="151790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5D6B7A"/>
                </a:solidFill>
              </a:rPr>
              <a:t>File() response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2560320" y="2743200"/>
            <a:ext cx="256032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73752" y="2743200"/>
            <a:ext cx="256032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187184" y="2743200"/>
            <a:ext cx="256032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00616" y="2743200"/>
            <a:ext cx="256032" cy="0"/>
          </a:xfrm>
          <a:prstGeom prst="line">
            <a:avLst/>
          </a:prstGeom>
          <a:noFill/>
          <a:ln w="25400">
            <a:solidFill>
              <a:srgbClr val="2C61A8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2960" y="4160520"/>
            <a:ext cx="493776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87552" y="4297680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Why this solves the earlier 404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87552" y="4681728"/>
            <a:ext cx="4608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A database-backed PDF is not tied to a particular `wwwroot/uploads/pdfs` folder, so moving the project does not break the document.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4983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36792" y="4297680"/>
            <a:ext cx="4654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Interview point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336792" y="4681728"/>
            <a:ext cx="46542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Always validate file size and type on the server. Never trust only the client-side file extension.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Audit Logging &amp; Session Management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Two different concerns: traceability and continuity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AUDIT + SESSION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94360" y="15087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8952" y="1645920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Login Audit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" y="2029968"/>
            <a:ext cx="5020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Fields: Username, LoginDateTime, LogoutDateTime, LoginStatus.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Purpose: security monitoring, troubleshooting and accountability.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28232" y="1645920"/>
            <a:ext cx="5020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Session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28232" y="2029968"/>
            <a:ext cx="50200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Stores authenticated user/role and temporary values such as OTP and CAPTCHA.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Purpose: remember state across HTTP requests.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" y="3794760"/>
            <a:ext cx="11018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58952" y="3931920"/>
            <a:ext cx="10689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Data Protection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8952" y="4315968"/>
            <a:ext cx="106893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ASP.NET Core protects session/authentication cookies. Persisting Data Protection keys prevents cookie decryption failures when multiple app restarts/copies need to share the same protection key ring.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Core Definitions — Web &amp; .NET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These are common follow-up questions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DEFINITIONS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54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MVC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Model = data; View = UI; Controller = request handling + orchestration.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163056" y="1417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27648" y="1554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Middleware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27648" y="1938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Components in the HTTP pipeline that can inspect/modify requests and responses.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566928" y="2560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697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Dependency Injection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081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A class receives dependencies instead of constructing them itself.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163056" y="2560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27648" y="2697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EF Core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3081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ORM that maps C# entities to relational database tables and supports LINQ/CRUD.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66928" y="3703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840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ViewModel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4224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A UI-focused object that combines exactly the fields a page needs.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163056" y="3703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27648" y="3840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Authentication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27648" y="4224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Proves who the user is.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566928" y="4846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4983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Authorization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520" y="5367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Determines what the authenticated user is allowed to do.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6163056" y="4846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27648" y="4983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Session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27648" y="5367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Server-side state associated with a browser session across requests.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Core Definitions — SQL Server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Use these definitions when the interviewer switches to database questions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SQL DEFINITIONS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54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Primary Key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Uniquely identifies a row in a table.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163056" y="1417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27648" y="1554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Foreign Key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27648" y="1938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Creates a relationship between tables and helps enforce referential integrity.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566928" y="2560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697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Stored Procedure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081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Named SQL program stored in the database; accepts parameters and can execute multiple statements.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163056" y="2560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27648" y="2697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Index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3081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Data structure that can speed up reads on frequently searched/sorted columns.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66928" y="3703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840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VARBINARY(MAX)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4224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SQL Server type for storing large binary content such as PDFs.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163056" y="3703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27648" y="3840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Parameterization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27648" y="4224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Passes user values as parameters instead of concatenating them into SQL text; reduces injection risk.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566928" y="4846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4983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Async I/O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520" y="5367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`async/await` prevents unnecessary thread blocking while waiting for database/file operations.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6163056" y="4846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27648" y="4983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Transaction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27648" y="5367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Groups multiple database operations so they can succeed or roll back together.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Core Definitions — Security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Keep these answers crisp and practical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SECURITY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554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Hashing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One-way transformation; useful for passwords where the original value should not be recovered.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6163056" y="1417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27648" y="1554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Encryption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27648" y="1938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Reversible protection when the correct key is available.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566928" y="2560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697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CAPTCHA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081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A challenge intended to distinguish a human user from automated requests.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163056" y="2560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27648" y="2697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Server-side validation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327648" y="3081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Final trust boundary; validates data again even if client-side checks already ran.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66928" y="3703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3840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Role-based access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731520" y="4224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Authorization based on roles such as Admin vs Candidate.</a:t>
            </a:r>
            <a:endParaRPr lang="en-US" sz="970" dirty="0"/>
          </a:p>
        </p:txBody>
      </p:sp>
      <p:sp>
        <p:nvSpPr>
          <p:cNvPr id="21" name="Shape 19"/>
          <p:cNvSpPr/>
          <p:nvPr/>
        </p:nvSpPr>
        <p:spPr>
          <a:xfrm>
            <a:off x="6163056" y="3703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27648" y="3840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Rate limiting / lockout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27648" y="4224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Controls repeated authentication attempts to reduce abuse.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566928" y="4846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4983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Least privilege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31520" y="5367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Give each user/process only the permissions it needs.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6163056" y="4846320"/>
            <a:ext cx="530352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327648" y="4983480"/>
            <a:ext cx="4974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3A63"/>
                </a:solidFill>
              </a:rPr>
              <a:t>Secure file upload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327648" y="5367528"/>
            <a:ext cx="4974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B4D"/>
                </a:solidFill>
              </a:rPr>
              <a:t>Validate type/size, avoid trusting filenames, and control how files are stored and served.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17. Interview Q&amp;A — Project Basics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Short, speakable answers — use these as prompts, not scripts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Q&amp;A 1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1206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1. Explain your project.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7665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An ASP.NET Core MVC candidate portal with SQL Server, registration, login, applications, documents, hall tickets, admin and audit logging.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3562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2. Why ASP.NET Core MVC?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0021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Clean separation of concerns plus middleware, DI, validation, session and strong SQL Server integration.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1206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3. What is MVC?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7665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Model = data, View = UI, Controller = request handling and orchestration.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13562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4. Explain the architecture.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0021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Browser → Controller → Service → EF Core → SQL Server, with security/session/logging across the pipeline.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2064" y="4562856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4700016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5. Why SQL Server?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76656" y="5084064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Relational integrity, master data, constraints, stored procedures, indexing and enterprise support.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18. Interview Q&amp;A — Data Access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Short, speakable answers — use these as prompts, not scripts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Q&amp;A 2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1206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6. Why EF Core?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7665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It provides ORM mapping, CRUD, change tracking, relationships and LINQ-based queries.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3562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7. What is DbContext?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0021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The EF Core bridge for entity mapping, querying, change tracking and database operations.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1206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8. Why use master tables?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7665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Centralized, controlled values for courses, states and districts; avoids arbitrary input.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13562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9. What is a foreign key?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0021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A column that references another table and helps enforce valid relationships.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2064" y="4562856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4700016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10. What is a primary key?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76656" y="5084064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A unique identifier for each row.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19. Interview Q&amp;A — Validation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Short, speakable answers — use these as prompts, not scripts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Q&amp;A 3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1206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11. What validations did you implement?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7665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Required fields, name, mobile, DOB/age, gender, CAPTCHA and upload type/size checks.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3562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12. Why client + server validation?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0021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Client validation improves UX; server validation protects data because client checks can be bypassed.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1206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13. How validate mobile?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7665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Check numeric content and required 10-digit length.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13562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14. How validate DOB?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0021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Ensure valid date and enforce the required age rule on the server.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2064" y="4562856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4700016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15. What if a user tampers with CourseId?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76656" y="5084064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Server verifies the ID exists and is valid before saving.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20. Interview Q&amp;A — Login &amp; Security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Short, speakable answers — use these as prompts, not scripts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Q&amp;A 4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1206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16. Explain login flow.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7665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Username/password → OTP → CAPTCHA → verification → session → audit → application page.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3562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17. How are passwords stored?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0021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Never in plain text; store a salted password hash and verify the hash on login.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1206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18. Hashing vs encryption?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7665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Hashing is one-way; encryption is reversible with the correct key.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13562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19. Why use CAPTCHA?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0021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Adds a basic anti-automation control to the registration/login flow.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2064" y="4562856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4700016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20. Why show OTP on the demo page?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76656" y="5084064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Requirement uses offline OTP; in production it should be sent through SMS/email instead.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21. Interview Q&amp;A — Session &amp; Access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Short, speakable answers — use these as prompts, not scripts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Q&amp;A 5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1206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21. Why session?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7665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HTTP is stateless; session maintains user identity and temporary login values across requests.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3562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22. Authentication vs authorization?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0021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Authentication identifies the user; authorization determines permissions.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1206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23. How do you protect Admin?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7665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Server-side role checks on protected actions/controllers.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13562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24. What happens if a candidate opens an Admin URL?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0021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The server checks authorization and denies/redirects if the role is not allowed.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2064" y="4562856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4700016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25. What caused the session-cookie error?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76656" y="5084064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Different app copies used different Data Protection keys; persisting the key ring resolved decryption failures.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22. Interview Q&amp;A — Documents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Short, speakable answers — use these as prompts, not scripts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Q&amp;A 6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1206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26. How are file uploads handled?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7665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Validate on the server, then store the approved content and metadata.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3562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27. Why store PDFs in SQL Server?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0021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Avoid dependency on a local upload folder that can disappear when the app moves.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1206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28. What is VARBINARY(MAX)?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7665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SQL Server type for large binary data such as documents.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13562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29. What if a PDF is 20 MB but the limit is 5 MB?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0021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Reject it during server-side validation and return a user-friendly error.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2064" y="4562856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4700016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30. What is secure upload practice?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76656" y="5084064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Validate type/size, avoid trusting names, control access, and store safely.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23. Interview Q&amp;A — Admin &amp; Audit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Short, speakable answers — use these as prompts, not scripts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Q&amp;A 7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1206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31. What does Admin do?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7665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View dashboard metrics, applications, uploaded documents and login audit records.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3562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32. What is audit logging?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0021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Recording security-relevant activity for traceability and troubleshooting.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1206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33. What does the login audit contain?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7665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Username, login time, logout time and status.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13562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34. What happens on logout?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0021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Clear the session and update the corresponding audit record when applicable.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2064" y="4562856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4700016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35. Why audit logs?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76656" y="5084064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To support traceability, security review and investigations.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24. Interview Q&amp;A — SQL &amp; Performance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Short, speakable answers — use these as prompts, not scripts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Q&amp;A 8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1206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36. Why stored procedures?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7665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Centralize database logic, control access and simplify repeated operations/reporting.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3562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37. What is an index?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0021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A structure that can speed reads for selected query patterns.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1206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38. How would you scale to 1M applications?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7665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Pagination, proper indexes, async I/O, efficient queries and caching of stable master data.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13562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39. What columns might you index?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0021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Username, application ID, foreign keys and audit timestamps based on actual query patterns.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2064" y="4562856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4700016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40. How do you prevent SQL injection?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76656" y="5084064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Use EF Core parameterized queries and parameters for raw SQL/stored procedures.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25. Interview Q&amp;A — Reliability &amp;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Short, speakable answers — use these as prompts, not scripts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Q&amp;A 9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1206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41. What if the database is down?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7665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Handle exceptions, log details, and show a safe user-facing error instead of a stack trace.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3562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42. Why async/await?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0021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Avoid unnecessary thread blocking while waiting for I/O operations.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1206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43. How did you generate the hall ticket?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7665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Render a formatted server-side view with candidate details, photo and signature, then print/save as PDF.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13562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44. Why ViewModels?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0021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They shape exactly what a UI needs without exposing or coupling directly to database entities.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2064" y="4562856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4700016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45. Why DI?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76656" y="5084064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Reduces coupling and improves testing and maintainability.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26. Interview Q&amp;A — Challenges &amp; Improvements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Short, speakable answers — use these as prompts, not scripts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Q&amp;A 10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1206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7665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46. What was a challenging bug?</a:t>
            </a:r>
            <a:endParaRPr lang="en-US" sz="1180" dirty="0"/>
          </a:p>
        </p:txBody>
      </p:sp>
      <p:sp>
        <p:nvSpPr>
          <p:cNvPr id="8" name="Text 6"/>
          <p:cNvSpPr/>
          <p:nvPr/>
        </p:nvSpPr>
        <p:spPr>
          <a:xfrm>
            <a:off x="67665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Database schema conflicts from older tables/constraints; isolated the project with CRP_-prefixed tables.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6135624" y="1417320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00216" y="1554480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47. Another debugging example?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6300216" y="1938528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Port conflicts while running multiple app copies; changed launch ports or stopped the old process.</a:t>
            </a:r>
            <a:endParaRPr lang="en-US" sz="940" dirty="0"/>
          </a:p>
        </p:txBody>
      </p:sp>
      <p:sp>
        <p:nvSpPr>
          <p:cNvPr id="12" name="Shape 10"/>
          <p:cNvSpPr/>
          <p:nvPr/>
        </p:nvSpPr>
        <p:spPr>
          <a:xfrm>
            <a:off x="51206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48. How did you fix PDF 404s?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67665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Moved the PDF source of truth into SQL Server instead of relying only on file paths.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135624" y="2990088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3127248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49. How would you improve for production?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00216" y="3511296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Real OTP delivery, Identity, stronger policies, secret management, centralized logging, tests and scalable document storage.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512064" y="4562856"/>
            <a:ext cx="537667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" y="4700016"/>
            <a:ext cx="50474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63A63"/>
                </a:solidFill>
              </a:rPr>
              <a:t>50. What should you emphasize in the interview?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676656" y="5084064"/>
            <a:ext cx="50474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72B4D"/>
                </a:solidFill>
              </a:rPr>
              <a:t>Requirement understanding, layered architecture, validation, secure data handling, debugging and clear trade-offs.</a:t>
            </a:r>
            <a:endParaRPr lang="en-US" sz="9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27. 60-Second Project Explanation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A polished opening answer for “Tell me about your project”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PITCH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835640" cy="731520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 w="12700">
            <a:solidFill>
              <a:srgbClr val="BFD2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5256" y="1554480"/>
            <a:ext cx="103967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163A63"/>
                </a:solidFill>
              </a:rPr>
              <a:t>“I built a Candidate Registration Portal using ASP.NET Core MVC, C#, Entity Framework Core and SQL Server.”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24231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50392" y="25603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1. What it does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2944368"/>
            <a:ext cx="3099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Registration → secure login → application form → document upload → database save → hall ticket.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0832" y="24231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35424" y="25603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2. How it is built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35424" y="2944368"/>
            <a:ext cx="3099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MVC controllers + services + EF Core + SQL Server + session + role checks + stored procedures.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55864" y="2423160"/>
            <a:ext cx="342900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0456" y="2560320"/>
            <a:ext cx="30998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3. What I solved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0456" y="2944368"/>
            <a:ext cx="3099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B4D"/>
                </a:solidFill>
              </a:rPr>
              <a:t>Validation, PDF storage, audit logs, schema conflicts, session Data Protection issues and local development port conflicts.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3A63"/>
                </a:solidFill>
              </a:rPr>
              <a:t>Closing line: “I can walk you through the registration, login, application and admin flows end-to-end.”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28. Interview Demo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A clean 5-minute sequence to show the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DEMO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640080" y="1408176"/>
            <a:ext cx="438912" cy="438912"/>
          </a:xfrm>
          <a:prstGeom prst="ellipse">
            <a:avLst/>
          </a:prstGeom>
          <a:solidFill>
            <a:srgbClr val="2C61A8"/>
          </a:solidFill>
          <a:ln w="12700">
            <a:solidFill>
              <a:srgbClr val="2C61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904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61872" y="13716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A63"/>
                </a:solidFill>
              </a:rPr>
              <a:t>Open Login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657600" y="13716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B4D"/>
                </a:solidFill>
              </a:rPr>
              <a:t>Show username/password, offline OTP and CAPTCHA.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40080" y="2322576"/>
            <a:ext cx="438912" cy="438912"/>
          </a:xfrm>
          <a:prstGeom prst="ellipse">
            <a:avLst/>
          </a:prstGeom>
          <a:solidFill>
            <a:srgbClr val="2C61A8"/>
          </a:solidFill>
          <a:ln w="12700">
            <a:solidFill>
              <a:srgbClr val="2C61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048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61872" y="2286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A63"/>
                </a:solidFill>
              </a:rPr>
              <a:t>Register Candidate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657600" y="22860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B4D"/>
                </a:solidFill>
              </a:rPr>
              <a:t>Demonstrate validation, DOB/calendar and confirmation.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40080" y="3236976"/>
            <a:ext cx="438912" cy="438912"/>
          </a:xfrm>
          <a:prstGeom prst="ellipse">
            <a:avLst/>
          </a:prstGeom>
          <a:solidFill>
            <a:srgbClr val="2C61A8"/>
          </a:solidFill>
          <a:ln w="12700">
            <a:solidFill>
              <a:srgbClr val="2C61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192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61872" y="32004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A63"/>
                </a:solidFill>
              </a:rPr>
              <a:t>Login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57600" y="32004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B4D"/>
                </a:solidFill>
              </a:rPr>
              <a:t>Explain authentication + session + audit.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640080" y="4151376"/>
            <a:ext cx="438912" cy="438912"/>
          </a:xfrm>
          <a:prstGeom prst="ellipse">
            <a:avLst/>
          </a:prstGeom>
          <a:solidFill>
            <a:srgbClr val="2C61A8"/>
          </a:solidFill>
          <a:ln w="12700">
            <a:solidFill>
              <a:srgbClr val="2C61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2336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61872" y="4114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A63"/>
                </a:solidFill>
              </a:rPr>
              <a:t>Complete Application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657600" y="41148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B4D"/>
                </a:solidFill>
              </a:rPr>
              <a:t>Show master dropdowns, file validation and submit.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40080" y="5065776"/>
            <a:ext cx="438912" cy="438912"/>
          </a:xfrm>
          <a:prstGeom prst="ellipse">
            <a:avLst/>
          </a:prstGeom>
          <a:solidFill>
            <a:srgbClr val="2C61A8"/>
          </a:solidFill>
          <a:ln w="12700">
            <a:solidFill>
              <a:srgbClr val="2C61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148072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61872" y="5029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3A63"/>
                </a:solidFill>
              </a:rPr>
              <a:t>Admin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657600" y="5029200"/>
            <a:ext cx="7406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B4D"/>
                </a:solidFill>
              </a:rPr>
              <a:t>Show dashboard, applications, documents, audit and logout.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58368" y="5925312"/>
            <a:ext cx="10927080" cy="502920"/>
          </a:xfrm>
          <a:prstGeom prst="roundRect">
            <a:avLst>
              <a:gd name="adj" fmla="val 14545"/>
            </a:avLst>
          </a:prstGeom>
          <a:solidFill>
            <a:srgbClr val="EEF4FB"/>
          </a:solidFill>
          <a:ln w="12700">
            <a:solidFill>
              <a:srgbClr val="D7E1EC"/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22960" y="6062472"/>
            <a:ext cx="10597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63A63"/>
                </a:solidFill>
              </a:rPr>
              <a:t>Tip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22960" y="6446520"/>
            <a:ext cx="10597896" cy="-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Narrate the data flow, not just the screen: “this value is validated here, then stored here, then used here.”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502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3A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29. Requirement → Implementation 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18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B7A"/>
                </a:solidFill>
              </a:rPr>
              <a:t>Useful if the interviewer asks “where did you implement that?”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9738360" y="530352"/>
            <a:ext cx="1783080" cy="301752"/>
          </a:xfrm>
          <a:prstGeom prst="roundRect">
            <a:avLst>
              <a:gd name="adj" fmla="val 24242"/>
            </a:avLst>
          </a:prstGeom>
          <a:solidFill>
            <a:srgbClr val="E7F0FA"/>
          </a:solidFill>
          <a:ln w="12700">
            <a:solidFill>
              <a:srgbClr val="E7F0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11512" y="585216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C61A8"/>
                </a:solidFill>
              </a:rPr>
              <a:t>TRACEABILITY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594360" y="1353312"/>
            <a:ext cx="10927080" cy="420624"/>
          </a:xfrm>
          <a:prstGeom prst="roundRect">
            <a:avLst>
              <a:gd name="adj" fmla="val 10870"/>
            </a:avLst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53896"/>
            <a:ext cx="3886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Requirement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37760" y="1453896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Implementation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" y="1810512"/>
            <a:ext cx="109270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6EC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88366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63A63"/>
                </a:solidFill>
              </a:rPr>
              <a:t>Mandatory validation</a:t>
            </a:r>
            <a:endParaRPr lang="en-US" sz="970" dirty="0"/>
          </a:p>
        </p:txBody>
      </p:sp>
      <p:sp>
        <p:nvSpPr>
          <p:cNvPr id="11" name="Text 9"/>
          <p:cNvSpPr/>
          <p:nvPr/>
        </p:nvSpPr>
        <p:spPr>
          <a:xfrm>
            <a:off x="4937760" y="188366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ViewModel validation + server checks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94360" y="2203704"/>
            <a:ext cx="10927080" cy="393192"/>
          </a:xfrm>
          <a:prstGeom prst="rect">
            <a:avLst/>
          </a:prstGeom>
          <a:solidFill>
            <a:srgbClr val="F1F5F9"/>
          </a:solidFill>
          <a:ln w="7620">
            <a:solidFill>
              <a:srgbClr val="E6EC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27685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63A63"/>
                </a:solidFill>
              </a:rPr>
              <a:t>Mobile format</a:t>
            </a:r>
            <a:endParaRPr lang="en-US" sz="970" dirty="0"/>
          </a:p>
        </p:txBody>
      </p:sp>
      <p:sp>
        <p:nvSpPr>
          <p:cNvPr id="14" name="Text 12"/>
          <p:cNvSpPr/>
          <p:nvPr/>
        </p:nvSpPr>
        <p:spPr>
          <a:xfrm>
            <a:off x="4937760" y="2276856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Server-side numeric/length validation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596896"/>
            <a:ext cx="109270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6EC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67004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63A63"/>
                </a:solidFill>
              </a:rPr>
              <a:t>Age criteria</a:t>
            </a:r>
            <a:endParaRPr lang="en-US" sz="970" dirty="0"/>
          </a:p>
        </p:txBody>
      </p:sp>
      <p:sp>
        <p:nvSpPr>
          <p:cNvPr id="17" name="Text 15"/>
          <p:cNvSpPr/>
          <p:nvPr/>
        </p:nvSpPr>
        <p:spPr>
          <a:xfrm>
            <a:off x="4937760" y="267004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Server-side DOB validation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" y="2990088"/>
            <a:ext cx="10927080" cy="393192"/>
          </a:xfrm>
          <a:prstGeom prst="rect">
            <a:avLst/>
          </a:prstGeom>
          <a:solidFill>
            <a:srgbClr val="F1F5F9"/>
          </a:solidFill>
          <a:ln w="7620">
            <a:solidFill>
              <a:srgbClr val="E6EC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6324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63A63"/>
                </a:solidFill>
              </a:rPr>
              <a:t>OTP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4937760" y="306324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Session-backed 6-digit demo OTP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383280"/>
            <a:ext cx="109270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6ECF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45643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63A63"/>
                </a:solidFill>
              </a:rPr>
              <a:t>CAPTCHA</a:t>
            </a:r>
            <a:endParaRPr lang="en-US" sz="970" dirty="0"/>
          </a:p>
        </p:txBody>
      </p:sp>
      <p:sp>
        <p:nvSpPr>
          <p:cNvPr id="23" name="Text 21"/>
          <p:cNvSpPr/>
          <p:nvPr/>
        </p:nvSpPr>
        <p:spPr>
          <a:xfrm>
            <a:off x="4937760" y="345643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Session-backed challenge/answer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" y="3776472"/>
            <a:ext cx="10927080" cy="393192"/>
          </a:xfrm>
          <a:prstGeom prst="rect">
            <a:avLst/>
          </a:prstGeom>
          <a:solidFill>
            <a:srgbClr val="F1F5F9"/>
          </a:solidFill>
          <a:ln w="7620">
            <a:solidFill>
              <a:srgbClr val="E6EC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84962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63A63"/>
                </a:solidFill>
              </a:rPr>
              <a:t>State/District master</a:t>
            </a:r>
            <a:endParaRPr lang="en-US" sz="970" dirty="0"/>
          </a:p>
        </p:txBody>
      </p:sp>
      <p:sp>
        <p:nvSpPr>
          <p:cNvPr id="26" name="Text 24"/>
          <p:cNvSpPr/>
          <p:nvPr/>
        </p:nvSpPr>
        <p:spPr>
          <a:xfrm>
            <a:off x="4937760" y="384962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CRP_CandidateStates + CRP_CandidateDistricts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" y="4169664"/>
            <a:ext cx="109270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6EC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4281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63A63"/>
                </a:solidFill>
              </a:rPr>
              <a:t>Photo/Signature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4937760" y="4242816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Multipart upload + type/size validation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94360" y="4562856"/>
            <a:ext cx="10927080" cy="393192"/>
          </a:xfrm>
          <a:prstGeom prst="rect">
            <a:avLst/>
          </a:prstGeom>
          <a:solidFill>
            <a:srgbClr val="F1F5F9"/>
          </a:solidFill>
          <a:ln w="7620">
            <a:solidFill>
              <a:srgbClr val="E6EC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636008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63A63"/>
                </a:solidFill>
              </a:rPr>
              <a:t>PDF document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4937760" y="463600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SQL Server VARBINARY(MAX) storage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4360" y="4956048"/>
            <a:ext cx="109270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6EC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5029200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63A63"/>
                </a:solidFill>
              </a:rPr>
              <a:t>Grid</a:t>
            </a:r>
            <a:endParaRPr lang="en-US" sz="970" dirty="0"/>
          </a:p>
        </p:txBody>
      </p:sp>
      <p:sp>
        <p:nvSpPr>
          <p:cNvPr id="35" name="Text 33"/>
          <p:cNvSpPr/>
          <p:nvPr/>
        </p:nvSpPr>
        <p:spPr>
          <a:xfrm>
            <a:off x="4937760" y="5029200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EF Core query + Razor view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4360" y="5349240"/>
            <a:ext cx="10927080" cy="393192"/>
          </a:xfrm>
          <a:prstGeom prst="rect">
            <a:avLst/>
          </a:prstGeom>
          <a:solidFill>
            <a:srgbClr val="F1F5F9"/>
          </a:solidFill>
          <a:ln w="7620">
            <a:solidFill>
              <a:srgbClr val="E6EC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542239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63A63"/>
                </a:solidFill>
              </a:rPr>
              <a:t>Hall ticket</a:t>
            </a:r>
            <a:endParaRPr lang="en-US" sz="970" dirty="0"/>
          </a:p>
        </p:txBody>
      </p:sp>
      <p:sp>
        <p:nvSpPr>
          <p:cNvPr id="38" name="Text 36"/>
          <p:cNvSpPr/>
          <p:nvPr/>
        </p:nvSpPr>
        <p:spPr>
          <a:xfrm>
            <a:off x="4937760" y="542239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Server-rendered print-ready view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4360" y="5742432"/>
            <a:ext cx="10927080" cy="393192"/>
          </a:xfrm>
          <a:prstGeom prst="rect">
            <a:avLst/>
          </a:prstGeom>
          <a:solidFill>
            <a:srgbClr val="FFFFFF"/>
          </a:solidFill>
          <a:ln w="7620">
            <a:solidFill>
              <a:srgbClr val="E6EC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815584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63A63"/>
                </a:solidFill>
              </a:rPr>
              <a:t>Admin</a:t>
            </a:r>
            <a:endParaRPr lang="en-US" sz="970" dirty="0"/>
          </a:p>
        </p:txBody>
      </p:sp>
      <p:sp>
        <p:nvSpPr>
          <p:cNvPr id="41" name="Text 39"/>
          <p:cNvSpPr/>
          <p:nvPr/>
        </p:nvSpPr>
        <p:spPr>
          <a:xfrm>
            <a:off x="4937760" y="581558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Role check + admin controllers/views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94360" y="6135624"/>
            <a:ext cx="10927080" cy="393192"/>
          </a:xfrm>
          <a:prstGeom prst="rect">
            <a:avLst/>
          </a:prstGeom>
          <a:solidFill>
            <a:srgbClr val="F1F5F9"/>
          </a:solidFill>
          <a:ln w="7620">
            <a:solidFill>
              <a:srgbClr val="E6EC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" y="6208776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b="1" dirty="0">
                <a:solidFill>
                  <a:srgbClr val="163A63"/>
                </a:solidFill>
              </a:rPr>
              <a:t>Audit</a:t>
            </a:r>
            <a:endParaRPr lang="en-US" sz="970" dirty="0"/>
          </a:p>
        </p:txBody>
      </p:sp>
      <p:sp>
        <p:nvSpPr>
          <p:cNvPr id="44" name="Text 42"/>
          <p:cNvSpPr/>
          <p:nvPr/>
        </p:nvSpPr>
        <p:spPr>
          <a:xfrm>
            <a:off x="4937760" y="6208776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172B4D"/>
                </a:solidFill>
              </a:rPr>
              <a:t>CRP_CandidateLoginAudits + stored procedures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23192" y="664311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5D6B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Candidate Registration Portal — Project Workflow &amp; Interview Guide</dc:title>
  <dc:subject>Candidate Registration Portal - Interview Presentation</dc:subject>
  <dc:creator>OpenAI</dc:creator>
  <cp:lastModifiedBy>OpenAI</cp:lastModifiedBy>
  <cp:revision>1</cp:revision>
  <dcterms:created xsi:type="dcterms:W3CDTF">2026-09-21T08:41:42Z</dcterms:created>
  <dcterms:modified xsi:type="dcterms:W3CDTF">2026-09-21T08:41:42Z</dcterms:modified>
</cp:coreProperties>
</file>